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mit\Documents\Coding%20Ninjas%20-%20SQL\retail_analytics_data\result\customer%20segmentation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mit\Documents\Coding%20Ninjas%20-%20SQL\retail_analytics_data\result\customer%20segmentation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mit\Documents\Coding%20Ninjas%20-%20SQL\retail_analytics_data\result\customer%20segmentation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mit\Documents\Coding%20Ninjas%20-%20SQL\retail_analytics_data\monthly%20growth%20rate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mit\Documents\Coding%20Ninjas%20-%20SQL\retail_analytics_data\result\customer%20segmentation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Performance of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'performace of product category'!$B$1</c:f>
              <c:strCache>
                <c:ptCount val="1"/>
                <c:pt idx="0">
                  <c:v>TotalUnitsSold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'performace of product category'!$A$2:$A$5</c:f>
              <c:strCache>
                <c:ptCount val="4"/>
                <c:pt idx="0">
                  <c:v>Home &amp; Kitchen</c:v>
                </c:pt>
                <c:pt idx="1">
                  <c:v>Electronics</c:v>
                </c:pt>
                <c:pt idx="2">
                  <c:v>Clothing</c:v>
                </c:pt>
                <c:pt idx="3">
                  <c:v>Beauty &amp; Health</c:v>
                </c:pt>
              </c:strCache>
            </c:strRef>
          </c:cat>
          <c:val>
            <c:numRef>
              <c:f>'performace of product category'!$B$2:$B$5</c:f>
              <c:numCache>
                <c:formatCode>General</c:formatCode>
                <c:ptCount val="4"/>
                <c:pt idx="0">
                  <c:v>3477</c:v>
                </c:pt>
                <c:pt idx="1">
                  <c:v>3037</c:v>
                </c:pt>
                <c:pt idx="2">
                  <c:v>2810</c:v>
                </c:pt>
                <c:pt idx="3">
                  <c:v>3001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4-4935-AB75-D1C93E96A6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1620384"/>
        <c:axId val="921617504"/>
      </c:barChart>
      <c:lineChart>
        <c:grouping val="standard"/>
        <c:varyColors val="0"/>
        <c:ser>
          <c:idx val="1"/>
          <c:order val="1"/>
          <c:tx>
            <c:strRef>
              <c:f>'performace of product category'!$C$1</c:f>
              <c:strCache>
                <c:ptCount val="1"/>
                <c:pt idx="0">
                  <c:v>TotalSales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'performace of product category'!$A$2:$A$5</c:f>
              <c:strCache>
                <c:ptCount val="4"/>
                <c:pt idx="0">
                  <c:v>Home &amp; Kitchen</c:v>
                </c:pt>
                <c:pt idx="1">
                  <c:v>Electronics</c:v>
                </c:pt>
                <c:pt idx="2">
                  <c:v>Clothing</c:v>
                </c:pt>
                <c:pt idx="3">
                  <c:v>Beauty &amp; Health</c:v>
                </c:pt>
              </c:strCache>
            </c:strRef>
          </c:cat>
          <c:val>
            <c:numRef>
              <c:f>'performace of product category'!$C$2:$C$5</c:f>
              <c:numCache>
                <c:formatCode>General</c:formatCode>
                <c:ptCount val="4"/>
                <c:pt idx="0">
                  <c:v>217755.94</c:v>
                </c:pt>
                <c:pt idx="1">
                  <c:v>177548.48</c:v>
                </c:pt>
                <c:pt idx="2">
                  <c:v>162874.21</c:v>
                </c:pt>
                <c:pt idx="3">
                  <c:v>143824.99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34-4935-AB75-D1C93E96A6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4807712"/>
        <c:axId val="1034808192"/>
      </c:lineChart>
      <c:catAx>
        <c:axId val="10348077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4808192"/>
        <c:crosses val="autoZero"/>
        <c:auto val="1"/>
        <c:lblAlgn val="ctr"/>
        <c:lblOffset val="100"/>
        <c:noMultiLvlLbl val="0"/>
      </c:catAx>
      <c:valAx>
        <c:axId val="1034808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4807712"/>
        <c:crosses val="autoZero"/>
        <c:crossBetween val="between"/>
      </c:valAx>
      <c:valAx>
        <c:axId val="92161750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Units Sold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1620384"/>
        <c:crosses val="max"/>
        <c:crossBetween val="between"/>
      </c:valAx>
      <c:catAx>
        <c:axId val="9216203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216175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Product with Highest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'top 10 products'!$B$1</c:f>
              <c:strCache>
                <c:ptCount val="1"/>
                <c:pt idx="0">
                  <c:v>TotalRevenue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'top 10 products'!$A$2:$A$11</c:f>
              <c:numCache>
                <c:formatCode>General</c:formatCode>
                <c:ptCount val="10"/>
                <c:pt idx="0">
                  <c:v>17</c:v>
                </c:pt>
                <c:pt idx="1">
                  <c:v>87</c:v>
                </c:pt>
                <c:pt idx="2">
                  <c:v>179</c:v>
                </c:pt>
                <c:pt idx="3">
                  <c:v>96</c:v>
                </c:pt>
                <c:pt idx="4">
                  <c:v>54</c:v>
                </c:pt>
                <c:pt idx="5">
                  <c:v>187</c:v>
                </c:pt>
                <c:pt idx="6">
                  <c:v>156</c:v>
                </c:pt>
                <c:pt idx="7">
                  <c:v>57</c:v>
                </c:pt>
                <c:pt idx="8">
                  <c:v>200</c:v>
                </c:pt>
                <c:pt idx="9">
                  <c:v>127</c:v>
                </c:pt>
              </c:numCache>
            </c:numRef>
          </c:cat>
          <c:val>
            <c:numRef>
              <c:f>'top 10 products'!$B$2:$B$11</c:f>
              <c:numCache>
                <c:formatCode>General</c:formatCode>
                <c:ptCount val="10"/>
                <c:pt idx="0">
                  <c:v>9450</c:v>
                </c:pt>
                <c:pt idx="1">
                  <c:v>7817.24</c:v>
                </c:pt>
                <c:pt idx="2">
                  <c:v>7388.26</c:v>
                </c:pt>
                <c:pt idx="3">
                  <c:v>7132.32</c:v>
                </c:pt>
                <c:pt idx="4">
                  <c:v>7052.86</c:v>
                </c:pt>
                <c:pt idx="5">
                  <c:v>6915.88</c:v>
                </c:pt>
                <c:pt idx="6">
                  <c:v>6827.84</c:v>
                </c:pt>
                <c:pt idx="7">
                  <c:v>6622.2</c:v>
                </c:pt>
                <c:pt idx="8">
                  <c:v>6479.79</c:v>
                </c:pt>
                <c:pt idx="9">
                  <c:v>6415.8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FF-4B24-B05F-6E8B84DD2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1623504"/>
        <c:axId val="1151621104"/>
      </c:barChart>
      <c:catAx>
        <c:axId val="11516235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21104"/>
        <c:crosses val="autoZero"/>
        <c:auto val="1"/>
        <c:lblAlgn val="ctr"/>
        <c:lblOffset val="100"/>
        <c:noMultiLvlLbl val="0"/>
      </c:catAx>
      <c:valAx>
        <c:axId val="115162110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2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Worst Performing 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'top 10  worst performing produc'!$B$1</c:f>
              <c:strCache>
                <c:ptCount val="1"/>
                <c:pt idx="0">
                  <c:v>TotalUnitsSold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'top 10  worst performing produc'!$A$2:$A$11</c:f>
              <c:numCache>
                <c:formatCode>General</c:formatCode>
                <c:ptCount val="10"/>
                <c:pt idx="0">
                  <c:v>142</c:v>
                </c:pt>
                <c:pt idx="1">
                  <c:v>33</c:v>
                </c:pt>
                <c:pt idx="2">
                  <c:v>174</c:v>
                </c:pt>
                <c:pt idx="3">
                  <c:v>159</c:v>
                </c:pt>
                <c:pt idx="4">
                  <c:v>60</c:v>
                </c:pt>
                <c:pt idx="5">
                  <c:v>41</c:v>
                </c:pt>
                <c:pt idx="6">
                  <c:v>91</c:v>
                </c:pt>
                <c:pt idx="7">
                  <c:v>198</c:v>
                </c:pt>
                <c:pt idx="8">
                  <c:v>124</c:v>
                </c:pt>
                <c:pt idx="9">
                  <c:v>163</c:v>
                </c:pt>
              </c:numCache>
            </c:numRef>
          </c:cat>
          <c:val>
            <c:numRef>
              <c:f>'top 10  worst performing produc'!$B$2:$B$11</c:f>
              <c:numCache>
                <c:formatCode>General</c:formatCode>
                <c:ptCount val="10"/>
                <c:pt idx="0">
                  <c:v>27</c:v>
                </c:pt>
                <c:pt idx="1">
                  <c:v>31</c:v>
                </c:pt>
                <c:pt idx="2">
                  <c:v>33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36</c:v>
                </c:pt>
                <c:pt idx="8">
                  <c:v>39</c:v>
                </c:pt>
                <c:pt idx="9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8-4CF8-AE91-FD21EFE99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1573584"/>
        <c:axId val="1151558224"/>
      </c:barChart>
      <c:catAx>
        <c:axId val="1151573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558224"/>
        <c:crosses val="autoZero"/>
        <c:auto val="1"/>
        <c:lblAlgn val="ctr"/>
        <c:lblOffset val="100"/>
        <c:noMultiLvlLbl val="0"/>
      </c:catAx>
      <c:valAx>
        <c:axId val="11515582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Units Sold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573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Monthly</a:t>
            </a:r>
            <a:r>
              <a:rPr lang="en-IN" baseline="0"/>
              <a:t> G</a:t>
            </a:r>
            <a:r>
              <a:rPr lang="en-IN"/>
              <a:t>rowth</a:t>
            </a:r>
            <a:r>
              <a:rPr lang="en-IN" baseline="0"/>
              <a:t> P</a:t>
            </a:r>
            <a:r>
              <a:rPr lang="en-IN"/>
              <a:t>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'monthly growth rate'!$D$1</c:f>
              <c:strCache>
                <c:ptCount val="1"/>
                <c:pt idx="0">
                  <c:v>mom_growth_percentage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'monthly growth rate'!$A$2:$A$8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'monthly growth rate'!$D$2:$D$8</c:f>
              <c:numCache>
                <c:formatCode>General</c:formatCode>
                <c:ptCount val="7"/>
                <c:pt idx="0">
                  <c:v>0</c:v>
                </c:pt>
                <c:pt idx="1">
                  <c:v>-7.29</c:v>
                </c:pt>
                <c:pt idx="2">
                  <c:v>6.81</c:v>
                </c:pt>
                <c:pt idx="3">
                  <c:v>-1.66</c:v>
                </c:pt>
                <c:pt idx="4">
                  <c:v>1.42</c:v>
                </c:pt>
                <c:pt idx="5">
                  <c:v>-0.77</c:v>
                </c:pt>
                <c:pt idx="6">
                  <c:v>-10.99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34E-47FC-97D0-F18B44E7B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0920128"/>
        <c:axId val="850921568"/>
      </c:scatterChart>
      <c:valAx>
        <c:axId val="85092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921568"/>
        <c:crosses val="autoZero"/>
        <c:crossBetween val="midCat"/>
      </c:valAx>
      <c:valAx>
        <c:axId val="8509215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920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Customers in Each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'customer segmentation'!$B$1</c:f>
              <c:strCache>
                <c:ptCount val="1"/>
                <c:pt idx="0">
                  <c:v>count(*)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'customer segmentation'!$A$2:$A$4</c:f>
              <c:strCache>
                <c:ptCount val="3"/>
                <c:pt idx="0">
                  <c:v>Med</c:v>
                </c:pt>
                <c:pt idx="1">
                  <c:v>Low</c:v>
                </c:pt>
                <c:pt idx="2">
                  <c:v>High</c:v>
                </c:pt>
              </c:strCache>
            </c:strRef>
          </c:cat>
          <c:val>
            <c:numRef>
              <c:f>'customer segmentation'!$B$2:$B$4</c:f>
              <c:numCache>
                <c:formatCode>General</c:formatCode>
                <c:ptCount val="3"/>
                <c:pt idx="0">
                  <c:v>559</c:v>
                </c:pt>
                <c:pt idx="1">
                  <c:v>423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E-4B82-A31F-4A34B3AFFE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1615344"/>
        <c:axId val="1151599024"/>
      </c:barChart>
      <c:catAx>
        <c:axId val="11516153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Customer Segment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599024"/>
        <c:crosses val="autoZero"/>
        <c:auto val="1"/>
        <c:lblAlgn val="ctr"/>
        <c:lblOffset val="100"/>
        <c:noMultiLvlLbl val="0"/>
      </c:catAx>
      <c:valAx>
        <c:axId val="11515990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Customers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1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46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0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0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3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8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4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3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2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8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05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4312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1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57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28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22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41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Retail Analytics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Descriptive Analysis of Sales, Customers, and Products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historical data to understand:</a:t>
            </a:r>
          </a:p>
          <a:p>
            <a:r>
              <a:rPr dirty="0"/>
              <a:t>- Product performance</a:t>
            </a:r>
          </a:p>
          <a:p>
            <a:r>
              <a:rPr dirty="0"/>
              <a:t>- Customer behavior</a:t>
            </a:r>
          </a:p>
          <a:p>
            <a:r>
              <a:rPr dirty="0"/>
              <a:t>- Sales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Removed duplicate transactions</a:t>
            </a:r>
          </a:p>
          <a:p>
            <a:r>
              <a:rPr dirty="0"/>
              <a:t>- Fixed price inconsistencies</a:t>
            </a:r>
          </a:p>
          <a:p>
            <a:r>
              <a:rPr dirty="0"/>
              <a:t>- Handled missing values</a:t>
            </a:r>
          </a:p>
          <a:p>
            <a:r>
              <a:rPr dirty="0"/>
              <a:t>- Converted date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5B58-8018-088A-B7DC-7A2F37BA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About 2023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9038-0FFF-1759-EB31-B76930478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83068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We have 1000 customers</a:t>
            </a:r>
          </a:p>
          <a:p>
            <a:r>
              <a:rPr lang="en-IN" dirty="0"/>
              <a:t>We have 5000 transactions</a:t>
            </a:r>
          </a:p>
          <a:p>
            <a:r>
              <a:rPr lang="en-IN" dirty="0"/>
              <a:t>We have 200 unique products and 4 categories of the products</a:t>
            </a:r>
          </a:p>
          <a:p>
            <a:r>
              <a:rPr lang="en-IN" dirty="0"/>
              <a:t>Total revenue generated is ₹702003.62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76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425333"/>
          </a:xfrm>
        </p:spPr>
        <p:txBody>
          <a:bodyPr/>
          <a:lstStyle/>
          <a:p>
            <a:r>
              <a:rPr dirty="0"/>
              <a:t>- Identified top-selling products</a:t>
            </a:r>
          </a:p>
          <a:p>
            <a:r>
              <a:rPr dirty="0"/>
              <a:t>- Identified low-performing products</a:t>
            </a:r>
          </a:p>
          <a:p>
            <a:r>
              <a:rPr dirty="0"/>
              <a:t>- Analyzed category-wise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8516ED-A950-145D-8B91-7AC8644A6817}"/>
              </a:ext>
            </a:extLst>
          </p:cNvPr>
          <p:cNvSpPr txBox="1"/>
          <p:nvPr/>
        </p:nvSpPr>
        <p:spPr>
          <a:xfrm>
            <a:off x="460975" y="6121615"/>
            <a:ext cx="1710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Top 10 products</a:t>
            </a:r>
          </a:p>
          <a:p>
            <a:r>
              <a:rPr lang="en-IN" sz="1400" b="1" dirty="0"/>
              <a:t>With highest sales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E823C-F476-2130-EED0-530E6743B4AE}"/>
              </a:ext>
            </a:extLst>
          </p:cNvPr>
          <p:cNvSpPr txBox="1"/>
          <p:nvPr/>
        </p:nvSpPr>
        <p:spPr>
          <a:xfrm>
            <a:off x="3212875" y="6082304"/>
            <a:ext cx="2061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10 products with least</a:t>
            </a:r>
          </a:p>
          <a:p>
            <a:r>
              <a:rPr lang="en-US" sz="1400" b="1" dirty="0"/>
              <a:t>amount of units sold</a:t>
            </a:r>
            <a:endParaRPr lang="en-IN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953FE-B471-375C-C6CA-8C6DA27F3EE0}"/>
              </a:ext>
            </a:extLst>
          </p:cNvPr>
          <p:cNvSpPr txBox="1"/>
          <p:nvPr/>
        </p:nvSpPr>
        <p:spPr>
          <a:xfrm>
            <a:off x="5659239" y="6229336"/>
            <a:ext cx="3126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performance of product category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5068064-47C9-4A73-9722-CEE4B995C4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7074948"/>
              </p:ext>
            </p:extLst>
          </p:nvPr>
        </p:nvGraphicFramePr>
        <p:xfrm>
          <a:off x="5381212" y="3157979"/>
          <a:ext cx="3682230" cy="3114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9FAEE10-82EE-4870-A89B-7E2E235C80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9988719"/>
              </p:ext>
            </p:extLst>
          </p:nvPr>
        </p:nvGraphicFramePr>
        <p:xfrm>
          <a:off x="75414" y="3525625"/>
          <a:ext cx="2897544" cy="2595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B90BADC-5A1D-422E-A452-2C37123990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732195"/>
              </p:ext>
            </p:extLst>
          </p:nvPr>
        </p:nvGraphicFramePr>
        <p:xfrm>
          <a:off x="2896060" y="3564433"/>
          <a:ext cx="2562051" cy="2529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16272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- Analyzed daily and monthly sales</a:t>
            </a:r>
          </a:p>
          <a:p>
            <a:r>
              <a:rPr dirty="0"/>
              <a:t>- Calculated growth using MoM</a:t>
            </a:r>
          </a:p>
          <a:p>
            <a:r>
              <a:rPr dirty="0"/>
              <a:t>- Observed overall sales patterns</a:t>
            </a:r>
            <a:endParaRPr lang="en-IN" dirty="0"/>
          </a:p>
          <a:p>
            <a:r>
              <a:rPr lang="en-IN" dirty="0"/>
              <a:t>- Inconsistent monthly growth trend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20FB33-3AFE-03B5-01E1-C2ACA395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9" y="3540861"/>
            <a:ext cx="4224998" cy="2143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16AA84-B643-F306-B8A4-F436A2E45153}"/>
              </a:ext>
            </a:extLst>
          </p:cNvPr>
          <p:cNvSpPr txBox="1"/>
          <p:nvPr/>
        </p:nvSpPr>
        <p:spPr>
          <a:xfrm>
            <a:off x="2033957" y="5785850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Daily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70CB52-875A-1714-5153-4EE634F3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071" y="3429000"/>
            <a:ext cx="3135241" cy="1331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FF5EC9-326C-D29E-CA5C-A032CDAAE86D}"/>
              </a:ext>
            </a:extLst>
          </p:cNvPr>
          <p:cNvSpPr txBox="1"/>
          <p:nvPr/>
        </p:nvSpPr>
        <p:spPr>
          <a:xfrm>
            <a:off x="5753532" y="6432386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Monthly growth rate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5647041-8A3E-5E4E-2D82-0B0DBB19CF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251917"/>
              </p:ext>
            </p:extLst>
          </p:nvPr>
        </p:nvGraphicFramePr>
        <p:xfrm>
          <a:off x="5022347" y="4728882"/>
          <a:ext cx="3207254" cy="1665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406479"/>
          </a:xfrm>
        </p:spPr>
        <p:txBody>
          <a:bodyPr/>
          <a:lstStyle/>
          <a:p>
            <a:r>
              <a:rPr dirty="0"/>
              <a:t>- Transactions per customer</a:t>
            </a:r>
          </a:p>
          <a:p>
            <a:r>
              <a:rPr dirty="0"/>
              <a:t>- High vs low spenders</a:t>
            </a:r>
          </a:p>
          <a:p>
            <a:r>
              <a:rPr dirty="0"/>
              <a:t>- Purchase frequency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B7287-54EE-CE6D-20FC-C511F0E33705}"/>
              </a:ext>
            </a:extLst>
          </p:cNvPr>
          <p:cNvSpPr txBox="1"/>
          <p:nvPr/>
        </p:nvSpPr>
        <p:spPr>
          <a:xfrm>
            <a:off x="594360" y="4290634"/>
            <a:ext cx="7446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130 customers made only one purchase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18 customers have more than 10 transactions and spend over ₹1000, indicating a small group of high-value customers.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3A3BA-1C3F-34E4-F955-FA4CDC04F7D6}"/>
              </a:ext>
            </a:extLst>
          </p:cNvPr>
          <p:cNvSpPr txBox="1"/>
          <p:nvPr/>
        </p:nvSpPr>
        <p:spPr>
          <a:xfrm>
            <a:off x="594360" y="3738198"/>
            <a:ext cx="1366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Insights: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857625"/>
          </a:xfrm>
        </p:spPr>
        <p:txBody>
          <a:bodyPr/>
          <a:lstStyle/>
          <a:p>
            <a:r>
              <a:rPr dirty="0"/>
              <a:t>- Low (1–10 units)</a:t>
            </a:r>
          </a:p>
          <a:p>
            <a:r>
              <a:rPr dirty="0"/>
              <a:t>- Medium (11–30 units)</a:t>
            </a:r>
          </a:p>
          <a:p>
            <a:r>
              <a:rPr dirty="0"/>
              <a:t>- High (&gt;30 units)</a:t>
            </a:r>
          </a:p>
          <a:p>
            <a:r>
              <a:rPr dirty="0"/>
              <a:t>- Distribution of customers across segments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C3179-61EF-5047-9AF9-FFE29F227F82}"/>
              </a:ext>
            </a:extLst>
          </p:cNvPr>
          <p:cNvSpPr txBox="1"/>
          <p:nvPr/>
        </p:nvSpPr>
        <p:spPr>
          <a:xfrm>
            <a:off x="3257170" y="6404108"/>
            <a:ext cx="22829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Customer Segmentation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0000B02-1518-4297-ACF2-DC7100A386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9239997"/>
              </p:ext>
            </p:extLst>
          </p:nvPr>
        </p:nvGraphicFramePr>
        <p:xfrm>
          <a:off x="2171700" y="4052184"/>
          <a:ext cx="4549140" cy="2351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434760"/>
          </a:xfrm>
        </p:spPr>
        <p:txBody>
          <a:bodyPr/>
          <a:lstStyle/>
          <a:p>
            <a:r>
              <a:rPr dirty="0"/>
              <a:t>- Repeat purchase analysis</a:t>
            </a:r>
          </a:p>
          <a:p>
            <a:r>
              <a:rPr dirty="0"/>
              <a:t>- Loyalty using purchase duration</a:t>
            </a:r>
          </a:p>
          <a:p>
            <a:r>
              <a:rPr dirty="0"/>
              <a:t>- Low frequency customers identified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057401"/>
            <a:ext cx="7955280" cy="455503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Revenue is not highly concentrated, as the top 10 products contribute only 10%, indicating a relatively distributed product performance. </a:t>
            </a:r>
          </a:p>
          <a:p>
            <a:pPr>
              <a:lnSpc>
                <a:spcPct val="100000"/>
              </a:lnSpc>
            </a:pPr>
            <a:r>
              <a:rPr lang="en-US" dirty="0"/>
              <a:t>A significant portion of customers (43%) fall into the low-value segment, indicating an opportunity to improve engagement and increase purchase volume.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US" dirty="0"/>
              <a:t>Repeat purchases at the transaction level are limited (70 instances), though this may not fully reflect demand as customers may purchase higher quantities in single transactions.</a:t>
            </a:r>
          </a:p>
          <a:p>
            <a:pPr>
              <a:lnSpc>
                <a:spcPct val="100000"/>
              </a:lnSpc>
            </a:pPr>
            <a:r>
              <a:rPr lang="en-US" dirty="0"/>
              <a:t>A large number of customers make only one purchase (130), indicating low purchase frequency.</a:t>
            </a:r>
          </a:p>
          <a:p>
            <a:pPr>
              <a:lnSpc>
                <a:spcPct val="120000"/>
              </a:lnSpc>
            </a:pPr>
            <a:r>
              <a:rPr lang="en-US" dirty="0"/>
              <a:t>The monthly growth trend is highly volatile, with frequent shifts between positive and negative growth, suggesting inconsistency in sales performance.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953234"/>
          </a:xfrm>
        </p:spPr>
        <p:txBody>
          <a:bodyPr>
            <a:normAutofit/>
          </a:bodyPr>
          <a:lstStyle/>
          <a:p>
            <a:r>
              <a:rPr lang="en-US" dirty="0"/>
              <a:t>The analysis highlights balanced product performance, a large base of low-value customers, and limited repeat purchasing behavior, indicating opportunities to improve customer engagement and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</TotalTime>
  <Words>407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Century Gothic</vt:lpstr>
      <vt:lpstr>Vapor Trail</vt:lpstr>
      <vt:lpstr>Retail Analytics Project</vt:lpstr>
      <vt:lpstr>Objective</vt:lpstr>
      <vt:lpstr>Data Cleaning</vt:lpstr>
      <vt:lpstr>About 2023 Sales</vt:lpstr>
      <vt:lpstr>Product Performance</vt:lpstr>
      <vt:lpstr>Sales Trends</vt:lpstr>
      <vt:lpstr>Customer Analysis</vt:lpstr>
      <vt:lpstr>Customer Segmentation</vt:lpstr>
      <vt:lpstr>Customer Behavior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Sumit Sharma</cp:lastModifiedBy>
  <cp:revision>7</cp:revision>
  <dcterms:created xsi:type="dcterms:W3CDTF">2013-01-27T09:14:16Z</dcterms:created>
  <dcterms:modified xsi:type="dcterms:W3CDTF">2026-04-01T17:30:51Z</dcterms:modified>
  <cp:category/>
</cp:coreProperties>
</file>